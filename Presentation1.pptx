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68352" autoAdjust="0"/>
  </p:normalViewPr>
  <p:slideViewPr>
    <p:cSldViewPr snapToGrid="0">
      <p:cViewPr>
        <p:scale>
          <a:sx n="100" d="100"/>
          <a:sy n="100" d="100"/>
        </p:scale>
        <p:origin x="-490" y="-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E1D3C-F139-4E2D-9569-A621BD912769}" type="datetimeFigureOut">
              <a:rPr lang="de-DE" smtClean="0"/>
              <a:t>20.07.2025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8B9EB-00BF-41A8-B4E3-2D053DE907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1253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Herzlich willkommen zu unserer Präsentation über „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driven</a:t>
            </a:r>
            <a:r>
              <a:rPr lang="de-DE" dirty="0"/>
              <a:t> </a:t>
            </a:r>
            <a:r>
              <a:rPr lang="de-DE" dirty="0" err="1"/>
              <a:t>automotive</a:t>
            </a:r>
            <a:r>
              <a:rPr lang="de-DE" dirty="0"/>
              <a:t> </a:t>
            </a:r>
            <a:r>
              <a:rPr lang="de-DE" dirty="0" err="1"/>
              <a:t>engineering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“</a:t>
            </a:r>
          </a:p>
          <a:p>
            <a:endParaRPr lang="de-DE" dirty="0"/>
          </a:p>
          <a:p>
            <a:r>
              <a:rPr lang="de-DE" dirty="0"/>
              <a:t>Oder auch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8B9EB-00BF-41A8-B4E3-2D053DE9073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6189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Datengetriebene</a:t>
            </a:r>
            <a:r>
              <a:rPr lang="en-GB" dirty="0"/>
              <a:t> </a:t>
            </a:r>
            <a:r>
              <a:rPr lang="en-GB" dirty="0" err="1"/>
              <a:t>Automobiltechnische</a:t>
            </a:r>
            <a:r>
              <a:rPr lang="en-GB" dirty="0"/>
              <a:t> Forschung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Die </a:t>
            </a:r>
            <a:r>
              <a:rPr lang="en-GB" dirty="0" err="1"/>
              <a:t>amerikanische</a:t>
            </a:r>
            <a:r>
              <a:rPr lang="en-GB" dirty="0"/>
              <a:t> </a:t>
            </a:r>
            <a:r>
              <a:rPr lang="en-GB" dirty="0" err="1"/>
              <a:t>Umweltbehörde</a:t>
            </a:r>
            <a:r>
              <a:rPr lang="en-GB" dirty="0"/>
              <a:t> </a:t>
            </a:r>
            <a:r>
              <a:rPr lang="en-GB" dirty="0" err="1"/>
              <a:t>testet</a:t>
            </a:r>
            <a:r>
              <a:rPr lang="en-GB" dirty="0"/>
              <a:t> </a:t>
            </a:r>
            <a:r>
              <a:rPr lang="en-GB" dirty="0" err="1"/>
              <a:t>Fahrzeuge</a:t>
            </a:r>
            <a:r>
              <a:rPr lang="en-GB" dirty="0"/>
              <a:t> auf </a:t>
            </a:r>
            <a:r>
              <a:rPr lang="en-GB" dirty="0" err="1"/>
              <a:t>Kraftstoffverbrauch</a:t>
            </a:r>
            <a:r>
              <a:rPr lang="en-GB" dirty="0"/>
              <a:t> und CO2 </a:t>
            </a:r>
            <a:r>
              <a:rPr lang="en-GB" dirty="0" err="1"/>
              <a:t>Ausstoß</a:t>
            </a:r>
            <a:r>
              <a:rPr lang="en-GB" dirty="0"/>
              <a:t>, um die </a:t>
            </a:r>
            <a:r>
              <a:rPr lang="en-GB" dirty="0" err="1"/>
              <a:t>Einhaltung</a:t>
            </a:r>
            <a:r>
              <a:rPr lang="en-GB" dirty="0"/>
              <a:t>, </a:t>
            </a:r>
            <a:r>
              <a:rPr lang="en-GB" dirty="0" err="1"/>
              <a:t>zum</a:t>
            </a:r>
            <a:r>
              <a:rPr lang="en-GB" dirty="0"/>
              <a:t> </a:t>
            </a:r>
            <a:r>
              <a:rPr lang="en-GB" dirty="0" err="1"/>
              <a:t>Beispiel</a:t>
            </a:r>
            <a:r>
              <a:rPr lang="en-GB" dirty="0"/>
              <a:t> des “</a:t>
            </a:r>
            <a:r>
              <a:rPr lang="en-GB" dirty="0" err="1"/>
              <a:t>Saubere</a:t>
            </a:r>
            <a:r>
              <a:rPr lang="en-GB" dirty="0"/>
              <a:t> Luft </a:t>
            </a:r>
            <a:r>
              <a:rPr lang="en-GB" dirty="0" err="1"/>
              <a:t>Abkommens</a:t>
            </a:r>
            <a:r>
              <a:rPr lang="en-GB" dirty="0"/>
              <a:t>” </a:t>
            </a:r>
            <a:r>
              <a:rPr lang="en-GB" dirty="0" err="1"/>
              <a:t>durch</a:t>
            </a:r>
            <a:r>
              <a:rPr lang="en-GB" dirty="0"/>
              <a:t> die </a:t>
            </a:r>
            <a:r>
              <a:rPr lang="en-GB" dirty="0" err="1"/>
              <a:t>Hersteller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prüfen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8B9EB-00BF-41A8-B4E3-2D053DE9073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806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1. Welche Automarken verbrauchen am meisten Erd</a:t>
            </a:r>
            <a:r>
              <a:rPr kumimoji="0" lang="de-DE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ö</a:t>
            </a:r>
            <a:r>
              <a:rPr kumimoji="0" lang="de-DE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l pro Jahr?</a:t>
            </a:r>
            <a:endParaRPr kumimoji="0" lang="en-GB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Das Diagramm zeigt die Hersteller und den durchschnittlichen Erd</a:t>
            </a:r>
            <a:r>
              <a:rPr kumimoji="0" lang="de-DE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ö</a:t>
            </a:r>
            <a:r>
              <a:rPr kumimoji="0" lang="de-DE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lverbrauch pro Jahr.</a:t>
            </a:r>
            <a:endParaRPr kumimoji="0" lang="en-GB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Große</a:t>
            </a:r>
            <a:r>
              <a:rPr kumimoji="0" lang="en-GB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GB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oder</a:t>
            </a:r>
            <a:r>
              <a:rPr kumimoji="0" lang="en-GB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GB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leisstungsstarke</a:t>
            </a:r>
            <a:r>
              <a:rPr kumimoji="0" lang="en-GB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Modelle </a:t>
            </a:r>
            <a:r>
              <a:rPr kumimoji="0" lang="en-GB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einiger</a:t>
            </a:r>
            <a:r>
              <a:rPr kumimoji="0" lang="en-GB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GB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Hersteller</a:t>
            </a:r>
            <a:r>
              <a:rPr kumimoji="0" lang="en-GB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GB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verbrauchen</a:t>
            </a:r>
            <a:r>
              <a:rPr kumimoji="0" lang="en-GB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GB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deutlich</a:t>
            </a:r>
            <a:r>
              <a:rPr kumimoji="0" lang="en-GB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GB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mehr</a:t>
            </a:r>
            <a:r>
              <a:rPr kumimoji="0" lang="en-GB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Benzin </a:t>
            </a:r>
            <a:r>
              <a:rPr kumimoji="0" lang="en-GB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als</a:t>
            </a:r>
            <a:r>
              <a:rPr kumimoji="0" lang="en-GB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GB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andere</a:t>
            </a:r>
            <a:r>
              <a:rPr kumimoji="0" lang="en-GB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8B9EB-00BF-41A8-B4E3-2D053DE9073A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371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2. Welche Fahrzeugmodelle haben den h</a:t>
            </a:r>
            <a:r>
              <a:rPr kumimoji="0" lang="de-DE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ö</a:t>
            </a:r>
            <a:r>
              <a:rPr kumimoji="0" lang="de-DE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chsten und niedrigsten Stadtverbrauch (City MPG)?</a:t>
            </a:r>
            <a:endParaRPr kumimoji="0" lang="en-GB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de-DE" dirty="0"/>
          </a:p>
          <a:p>
            <a:r>
              <a:rPr lang="de-DE" dirty="0"/>
              <a:t>Der Miles per </a:t>
            </a:r>
            <a:r>
              <a:rPr lang="de-DE" dirty="0" err="1"/>
              <a:t>Gallon</a:t>
            </a:r>
            <a:r>
              <a:rPr lang="de-DE" dirty="0"/>
              <a:t> Wert zeigt hier den Kraftstoff-Verbrauch in der Stadt.</a:t>
            </a:r>
          </a:p>
          <a:p>
            <a:endParaRPr lang="de-DE" dirty="0"/>
          </a:p>
          <a:p>
            <a:r>
              <a:rPr lang="de-DE" dirty="0"/>
              <a:t>Ein hoher MPG Wert bedeutet weniger Verbrauch, meist durch eine kompaktere Bauweise der Fahrzeuge.</a:t>
            </a:r>
          </a:p>
          <a:p>
            <a:endParaRPr lang="de-DE" dirty="0"/>
          </a:p>
          <a:p>
            <a:r>
              <a:rPr lang="de-DE" dirty="0"/>
              <a:t>Damit sind diese Modelle in den Top 10 der Effizienzgruppe.</a:t>
            </a:r>
          </a:p>
          <a:p>
            <a:endParaRPr lang="de-DE" dirty="0"/>
          </a:p>
          <a:p>
            <a:r>
              <a:rPr lang="de-DE" dirty="0"/>
              <a:t>Vans, SUVs und PS-starke Fahrzeuge verbrauchen wesentlich mehr Kraftstoff, haben dadurch einen niedrigeren MPG Wert, und werden damit als ineffizient angesehen (Flop).</a:t>
            </a:r>
          </a:p>
          <a:p>
            <a:endParaRPr lang="de-DE" dirty="0"/>
          </a:p>
          <a:p>
            <a:r>
              <a:rPr lang="de-DE" dirty="0"/>
              <a:t>Fahrzeuge mit alternativen Antrieben, wie zum Beispiel Plug-in-Hybride oder Elektroautos, sind in dieser Rangliste nicht vertreten,</a:t>
            </a:r>
          </a:p>
          <a:p>
            <a:r>
              <a:rPr lang="de-DE" dirty="0"/>
              <a:t>da sie deutlich weniger oder gar kein Erdöl benötigen.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8B9EB-00BF-41A8-B4E3-2D053DE9073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645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3. Wie unterscheidet sich der durchschnittliche Erdölverbrauch je nach Kraftstofftyp (Fuel Type1)?</a:t>
            </a:r>
          </a:p>
          <a:p>
            <a:endParaRPr lang="de-DE" dirty="0"/>
          </a:p>
          <a:p>
            <a:r>
              <a:rPr lang="de-DE" dirty="0"/>
              <a:t>Fahrzeuge, die Benzin und Diesel verbrauchen, haben den höchsten Erdölverbrauch, mit über 15 Gallonen pro Jahr.</a:t>
            </a:r>
          </a:p>
          <a:p>
            <a:endParaRPr lang="de-DE" dirty="0"/>
          </a:p>
          <a:p>
            <a:r>
              <a:rPr lang="de-DE" dirty="0"/>
              <a:t>Im starken Kontrast dazu stehen alternative Antriebe mit Wasserstoff, Erdgas und Elektrik.</a:t>
            </a:r>
          </a:p>
          <a:p>
            <a:endParaRPr lang="de-DE" dirty="0"/>
          </a:p>
          <a:p>
            <a:r>
              <a:rPr lang="de-DE" dirty="0"/>
              <a:t>Diese weisen nahezu keinen Erdölverbrauch auf. </a:t>
            </a:r>
          </a:p>
          <a:p>
            <a:endParaRPr lang="de-DE" dirty="0"/>
          </a:p>
          <a:p>
            <a:r>
              <a:rPr lang="de-DE" dirty="0"/>
              <a:t>Das zeigt klar: Ein Wechsel zu alternativen Antrieben reduziert den Erdölverbrauch drastisch, was  sowohl ökologisch als auch geopolitisch relevant ist.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8B9EB-00BF-41A8-B4E3-2D053DE9073A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5331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4. Wie hat sich der durchschnittliche Erdölverbrauch von Fahrzeugen im Zeitverlauf verändert?</a:t>
            </a:r>
          </a:p>
          <a:p>
            <a:endParaRPr lang="de-DE" dirty="0"/>
          </a:p>
          <a:p>
            <a:r>
              <a:rPr lang="de-DE" dirty="0"/>
              <a:t>Von 1984 bis ca. 2008 war der Erdölverbrauch stabil, mit nur leichten Schwankungen.</a:t>
            </a:r>
          </a:p>
          <a:p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Danach ist ein klarer Rückgang zu erkennen.</a:t>
            </a:r>
          </a:p>
          <a:p>
            <a:endParaRPr lang="de-DE" dirty="0"/>
          </a:p>
          <a:p>
            <a:r>
              <a:rPr lang="de-DE" dirty="0"/>
              <a:t>Ab 2010 zeigt sich ein kontinuierlicher Abwärtstrend, was auf technische Fortschritte, strengere Umweltauflagen und die zunehmende Verbreitung effizienterer Antriebe (z. B. Hybrid, Elektro) hindeutet.</a:t>
            </a:r>
          </a:p>
          <a:p>
            <a:endParaRPr lang="de-DE" dirty="0"/>
          </a:p>
          <a:p>
            <a:r>
              <a:rPr lang="de-DE" dirty="0"/>
              <a:t>Im Jahr 2024 ist ein Tiefpunkt erkennbar, möglicherweise durch einen höheren Anteil an Elektro- und Plug-in-Hybrid-Fahrzeugen.</a:t>
            </a:r>
          </a:p>
          <a:p>
            <a:endParaRPr lang="de-DE" dirty="0"/>
          </a:p>
          <a:p>
            <a:r>
              <a:rPr lang="de-DE" dirty="0"/>
              <a:t>2025 dann ein leichter Anstieg, vielleicht wegen neuen Modelltypen oder unvollständigen Daten.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8B9EB-00BF-41A8-B4E3-2D053DE9073A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7311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5. Welche Fahrzeugklassen verbrauchen am meisten Erdöl pro Jahr?</a:t>
            </a:r>
          </a:p>
          <a:p>
            <a:endParaRPr lang="de-DE" dirty="0"/>
          </a:p>
          <a:p>
            <a:r>
              <a:rPr lang="de-DE" dirty="0"/>
              <a:t>Fahrzeuge wie Large SUVs und Pickup Trucks verbrauchen im Schnitt deutlich mehr Benzin pro Jahr als kleinere Fahrzeugklassen wie Compact Cars oder </a:t>
            </a:r>
            <a:r>
              <a:rPr lang="de-DE" dirty="0" err="1"/>
              <a:t>Subcompacts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Das liegt typischerweise an:</a:t>
            </a:r>
          </a:p>
          <a:p>
            <a:r>
              <a:rPr lang="de-DE" dirty="0"/>
              <a:t>- Größerem Gewicht</a:t>
            </a:r>
          </a:p>
          <a:p>
            <a:r>
              <a:rPr lang="de-DE" dirty="0"/>
              <a:t>- Schlechterer Aerodynamik</a:t>
            </a:r>
          </a:p>
          <a:p>
            <a:r>
              <a:rPr lang="de-DE" dirty="0"/>
              <a:t>- Größeren Motoren</a:t>
            </a:r>
          </a:p>
          <a:p>
            <a:r>
              <a:rPr lang="de-DE" dirty="0"/>
              <a:t>- Oft fehlenden Hybridvarianten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8B9EB-00BF-41A8-B4E3-2D053DE9073A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2802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6. Wie hat sich die Anzahl neu eingeführter Fahrzeugmodelle pro Jahr entwickelt?</a:t>
            </a:r>
          </a:p>
          <a:p>
            <a:endParaRPr lang="de-DE" dirty="0"/>
          </a:p>
          <a:p>
            <a:r>
              <a:rPr lang="de-DE" dirty="0"/>
              <a:t>In manchen Phasen gab es einen deutlichen Anstieg, zum Beispiel durch technologische Innovationen oder gesetzliche Änderungen, die neue Modellvarianten begünstigten.</a:t>
            </a:r>
          </a:p>
          <a:p>
            <a:endParaRPr lang="de-DE" dirty="0"/>
          </a:p>
          <a:p>
            <a:r>
              <a:rPr lang="de-DE" dirty="0"/>
              <a:t>In anderen Jahren ging die Zahl merklich zurück, etwa infolge wirtschaftlicher Krisen oder Produktionsengpässen.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8B9EB-00BF-41A8-B4E3-2D053DE9073A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9470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7. Wie viele Fahrzeuge haben Plug-in-Hybrid-Eigenschaften (PHEV)?</a:t>
            </a:r>
          </a:p>
          <a:p>
            <a:endParaRPr lang="de-DE" dirty="0"/>
          </a:p>
          <a:p>
            <a:r>
              <a:rPr lang="de-DE" dirty="0"/>
              <a:t>Wir sehen, dass nur ein vergleichsweise kleiner Anteil der Modelle als PHEV klassifiziert ist.</a:t>
            </a:r>
          </a:p>
          <a:p>
            <a:endParaRPr lang="de-DE" dirty="0"/>
          </a:p>
          <a:p>
            <a:r>
              <a:rPr lang="de-DE" dirty="0"/>
              <a:t>Das zeigt, dass Plug-in-Hybride trotz wachsender Bedeutung im Markt noch nicht die Mehrheit der angebotenen Fahrzeuge ausmachen.</a:t>
            </a:r>
          </a:p>
          <a:p>
            <a:endParaRPr lang="de-DE" dirty="0"/>
          </a:p>
          <a:p>
            <a:r>
              <a:rPr lang="de-DE" dirty="0"/>
              <a:t>Gleichzeitig unterstreicht es, dass konventionelle Antriebe, insbesondere Benzin- und Dieselfahrzeuge, nach wie vor dominieren.</a:t>
            </a:r>
          </a:p>
          <a:p>
            <a:endParaRPr lang="de-DE" dirty="0"/>
          </a:p>
          <a:p>
            <a:r>
              <a:rPr lang="de-DE" dirty="0"/>
              <a:t>Dennoch kann man in den letzten Jahren einen langsamen, aber stetigen Zuwachs an PHEV-Modellen beobachten, was auf eine zunehmende Elektrifizierung des Fahrzeugangebots hindeutet.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8B9EB-00BF-41A8-B4E3-2D053DE9073A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5749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8. Verbrauchen Plug-in-Hybride (PHEVs) im Schnitt weniger Erdöl pro Jahr als konventionelle Fahrzeuge?</a:t>
            </a:r>
          </a:p>
          <a:p>
            <a:endParaRPr lang="de-DE" dirty="0"/>
          </a:p>
          <a:p>
            <a:r>
              <a:rPr lang="de-DE" dirty="0"/>
              <a:t>PHEVs verbrauchen weniger Benzin als konventionelle Fahrzeuge.</a:t>
            </a:r>
          </a:p>
          <a:p>
            <a:endParaRPr lang="de-DE" dirty="0"/>
          </a:p>
          <a:p>
            <a:r>
              <a:rPr lang="de-DE" dirty="0"/>
              <a:t>Der durchschnittliche Verbrauch liegt bei PHEVs meist unter 6 Gallonen pro Jahr, während konventionelle Fahrzeuge im Schnitt mehr als 13 Gallonen benötigen.</a:t>
            </a:r>
          </a:p>
          <a:p>
            <a:endParaRPr lang="de-DE" dirty="0"/>
          </a:p>
          <a:p>
            <a:r>
              <a:rPr lang="de-DE" dirty="0"/>
              <a:t>Unterschied: PHEVs stellen eine effektivere Möglichkeit zur Reduktion des fossilen Energieverbrauchs im Straßenverkehr dar, auch wenn sie nicht vollständig emissionsfrei sind.</a:t>
            </a:r>
          </a:p>
          <a:p>
            <a:endParaRPr lang="de-DE" dirty="0"/>
          </a:p>
          <a:p>
            <a:r>
              <a:rPr lang="de-DE" dirty="0"/>
              <a:t>Interessant: Verbrauch  beider Gruppen im Laufe der Jahre zwar reduziert, aber der Abstand zwischen PHEVs und konventionellen Antrieben konstant geblieben.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8B9EB-00BF-41A8-B4E3-2D053DE9073A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7236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9. Wie entwickelt sich der Erdölverbrauch bei PHEVs und konventionellen Fahrzeugen über die Jahre?</a:t>
            </a:r>
          </a:p>
          <a:p>
            <a:endParaRPr lang="de-DE" dirty="0"/>
          </a:p>
          <a:p>
            <a:r>
              <a:rPr lang="de-DE" dirty="0"/>
              <a:t>Vergleich von durchschnittlichen jährlichen Erdölverbrauch von konventionellen Fahrzeugen (graue Linie) und Plug-in-Hybriden (PHEVs) (grüne Linie).</a:t>
            </a:r>
          </a:p>
          <a:p>
            <a:endParaRPr lang="de-DE" dirty="0"/>
          </a:p>
          <a:p>
            <a:r>
              <a:rPr lang="de-DE" dirty="0"/>
              <a:t>PHEVs verbrauchen im Schnitt deutlich weniger Erdöl – etwa 5–7 Gallonen pro Jahr, während konventionelle Fahrzeuge lange Zeit bei 13–17 Gallonen lagen.</a:t>
            </a:r>
          </a:p>
          <a:p>
            <a:endParaRPr lang="de-DE" dirty="0"/>
          </a:p>
          <a:p>
            <a:r>
              <a:rPr lang="de-DE" dirty="0"/>
              <a:t>Also deutlicher Effizienzvorteil von PHEVs.</a:t>
            </a:r>
          </a:p>
          <a:p>
            <a:endParaRPr lang="de-DE" dirty="0"/>
          </a:p>
          <a:p>
            <a:r>
              <a:rPr lang="de-DE" dirty="0"/>
              <a:t>PHEVs tauchen erst ab 2011 oder 2012 in den Daten auf.</a:t>
            </a:r>
          </a:p>
          <a:p>
            <a:endParaRPr lang="de-DE" dirty="0"/>
          </a:p>
          <a:p>
            <a:r>
              <a:rPr lang="de-DE" dirty="0"/>
              <a:t>Seitdem Verbrauch konstant auf einem niedrigen Niveau, während der Verbrauch konventioneller Fahrzeuge seit ca. 2009 stetig zurückgeht.</a:t>
            </a:r>
          </a:p>
          <a:p>
            <a:endParaRPr lang="de-DE" dirty="0"/>
          </a:p>
          <a:p>
            <a:r>
              <a:rPr lang="de-DE" dirty="0"/>
              <a:t>Das Diagramm zeigt also, dass PHEVs eine wichtige Rolle bei der Reduzierung des Erdölverbrauchs spielen.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8B9EB-00BF-41A8-B4E3-2D053DE9073A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4263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Jährliche</a:t>
            </a:r>
            <a:r>
              <a:rPr lang="en-GB" dirty="0"/>
              <a:t> Kosten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15.000 </a:t>
            </a:r>
            <a:r>
              <a:rPr lang="en-GB" dirty="0" err="1"/>
              <a:t>Meilen</a:t>
            </a:r>
            <a:r>
              <a:rPr lang="en-GB" dirty="0"/>
              <a:t>, 55 % Stadt und 45% Autobahn, </a:t>
            </a:r>
            <a:r>
              <a:rPr lang="en-GB" dirty="0" err="1"/>
              <a:t>geschätzt</a:t>
            </a:r>
            <a:r>
              <a:rPr lang="en-GB" dirty="0"/>
              <a:t>, plus </a:t>
            </a:r>
            <a:r>
              <a:rPr lang="en-GB" dirty="0" err="1"/>
              <a:t>aktuellen</a:t>
            </a:r>
            <a:r>
              <a:rPr lang="en-GB" dirty="0"/>
              <a:t> </a:t>
            </a:r>
            <a:r>
              <a:rPr lang="en-GB" dirty="0" err="1"/>
              <a:t>Kraftstoffpreis</a:t>
            </a:r>
            <a:r>
              <a:rPr lang="en-GB" dirty="0"/>
              <a:t> pro Gallone, </a:t>
            </a:r>
            <a:r>
              <a:rPr lang="en-GB" dirty="0" err="1"/>
              <a:t>zum</a:t>
            </a:r>
            <a:r>
              <a:rPr lang="en-GB" dirty="0"/>
              <a:t> </a:t>
            </a:r>
            <a:r>
              <a:rPr lang="en-GB" dirty="0" err="1"/>
              <a:t>Beispiel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$3.21 pro Gallone für </a:t>
            </a:r>
            <a:r>
              <a:rPr lang="en-GB" dirty="0" err="1"/>
              <a:t>bleifreies</a:t>
            </a:r>
            <a:r>
              <a:rPr lang="en-GB" dirty="0"/>
              <a:t> </a:t>
            </a:r>
            <a:r>
              <a:rPr lang="en-GB" dirty="0" err="1"/>
              <a:t>Normalbenzin</a:t>
            </a:r>
            <a:r>
              <a:rPr lang="en-GB" dirty="0"/>
              <a:t>. (Für </a:t>
            </a:r>
            <a:r>
              <a:rPr lang="en-GB" dirty="0" err="1"/>
              <a:t>direkten</a:t>
            </a:r>
            <a:r>
              <a:rPr lang="en-GB" dirty="0"/>
              <a:t> </a:t>
            </a:r>
            <a:r>
              <a:rPr lang="en-GB" dirty="0" err="1"/>
              <a:t>Vergleich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aktuellem</a:t>
            </a:r>
            <a:r>
              <a:rPr lang="en-GB" dirty="0"/>
              <a:t> kwh Preis </a:t>
            </a:r>
            <a:r>
              <a:rPr lang="en-GB" dirty="0" err="1"/>
              <a:t>rechnen</a:t>
            </a:r>
            <a:r>
              <a:rPr lang="en-GB" dirty="0"/>
              <a:t>.)</a:t>
            </a:r>
            <a:endParaRPr lang="de-DE" dirty="0"/>
          </a:p>
          <a:p>
            <a:endParaRPr lang="de-DE" dirty="0"/>
          </a:p>
          <a:p>
            <a:r>
              <a:rPr lang="de-DE" dirty="0"/>
              <a:t>Wenn ihr eine Reise mit einem Plugin-Hybrid plant, habt ihr mindestens 20 Minuten Zeit, also auch fürs Gassi gehen </a:t>
            </a:r>
            <a:r>
              <a:rPr lang="de-DE" dirty="0">
                <a:sym typeface="Wingdings" panose="05000000000000000000" pitchFamily="2" charset="2"/>
              </a:rPr>
              <a:t></a:t>
            </a:r>
          </a:p>
          <a:p>
            <a:endParaRPr lang="en-GB" dirty="0"/>
          </a:p>
          <a:p>
            <a:r>
              <a:rPr lang="en-GB" dirty="0"/>
              <a:t>Und nun Danke für Eure </a:t>
            </a:r>
            <a:r>
              <a:rPr lang="en-GB" dirty="0" err="1"/>
              <a:t>Aufmerksamkeit</a:t>
            </a:r>
            <a:r>
              <a:rPr lang="en-GB" dirty="0"/>
              <a:t>, der Hund muss </a:t>
            </a:r>
            <a:r>
              <a:rPr lang="en-GB" dirty="0" err="1"/>
              <a:t>raus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de-DE" dirty="0"/>
          </a:p>
          <a:p>
            <a:r>
              <a:rPr lang="de-DE" dirty="0"/>
              <a:t>-------------------------------------------------------------------------------------</a:t>
            </a:r>
          </a:p>
          <a:p>
            <a:r>
              <a:rPr lang="de-DE" dirty="0"/>
              <a:t>Nur Benzin</a:t>
            </a:r>
          </a:p>
          <a:p>
            <a:r>
              <a:rPr lang="de-DE" dirty="0"/>
              <a:t>(15000 * 55 / 100 = 8250 Meilen Stadt	8250 * 3,21 = 26.482,50 Dollar</a:t>
            </a:r>
          </a:p>
          <a:p>
            <a:r>
              <a:rPr lang="de-DE" dirty="0"/>
              <a:t>15000 * 45 / 100 = 6750 Meilen Autobahn	6750 * 3,21 = 21.667,50 Dollar</a:t>
            </a:r>
          </a:p>
          <a:p>
            <a:r>
              <a:rPr lang="de-DE" dirty="0"/>
              <a:t>15000 Meilen, 48.150 Dollar</a:t>
            </a:r>
          </a:p>
          <a:p>
            <a:endParaRPr lang="de-DE" dirty="0"/>
          </a:p>
          <a:p>
            <a:r>
              <a:rPr lang="de-DE" dirty="0"/>
              <a:t>1 Meile = 1,609344 km</a:t>
            </a:r>
          </a:p>
          <a:p>
            <a:r>
              <a:rPr lang="de-DE" dirty="0"/>
              <a:t>1 Gallone = 3,785412 Liter)</a:t>
            </a:r>
          </a:p>
          <a:p>
            <a:endParaRPr lang="en-GB" dirty="0"/>
          </a:p>
          <a:p>
            <a:r>
              <a:rPr lang="en-GB" dirty="0"/>
              <a:t>(</a:t>
            </a:r>
            <a:r>
              <a:rPr lang="en-GB" dirty="0" err="1"/>
              <a:t>Elektrische</a:t>
            </a:r>
            <a:r>
              <a:rPr lang="en-GB" dirty="0"/>
              <a:t> Hybrid </a:t>
            </a:r>
            <a:r>
              <a:rPr lang="en-GB" dirty="0" err="1"/>
              <a:t>Fahrzeuge</a:t>
            </a:r>
            <a:r>
              <a:rPr lang="en-GB" dirty="0"/>
              <a:t> </a:t>
            </a:r>
            <a:r>
              <a:rPr lang="en-GB" dirty="0" err="1"/>
              <a:t>wandeln</a:t>
            </a:r>
            <a:r>
              <a:rPr lang="en-GB" dirty="0"/>
              <a:t> Energie, die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Bremsen</a:t>
            </a:r>
            <a:r>
              <a:rPr lang="en-GB" dirty="0"/>
              <a:t> </a:t>
            </a:r>
            <a:r>
              <a:rPr lang="en-GB" dirty="0" err="1"/>
              <a:t>entsteht</a:t>
            </a:r>
            <a:r>
              <a:rPr lang="en-GB" dirty="0"/>
              <a:t>, in </a:t>
            </a:r>
            <a:r>
              <a:rPr lang="en-GB" dirty="0" err="1"/>
              <a:t>elektrische</a:t>
            </a:r>
            <a:r>
              <a:rPr lang="en-GB" dirty="0"/>
              <a:t> Energie um und </a:t>
            </a:r>
            <a:r>
              <a:rPr lang="en-GB" dirty="0" err="1"/>
              <a:t>speichern</a:t>
            </a:r>
            <a:r>
              <a:rPr lang="en-GB" dirty="0"/>
              <a:t> </a:t>
            </a:r>
            <a:r>
              <a:rPr lang="en-GB" dirty="0" err="1"/>
              <a:t>diese</a:t>
            </a:r>
            <a:r>
              <a:rPr lang="en-GB" dirty="0"/>
              <a:t> in </a:t>
            </a:r>
            <a:r>
              <a:rPr lang="en-GB" dirty="0" err="1"/>
              <a:t>einer</a:t>
            </a:r>
            <a:r>
              <a:rPr lang="en-GB" dirty="0"/>
              <a:t> Batterie.</a:t>
            </a:r>
          </a:p>
          <a:p>
            <a:r>
              <a:rPr lang="en-GB" dirty="0" err="1"/>
              <a:t>Elektrische</a:t>
            </a:r>
            <a:r>
              <a:rPr lang="en-GB" dirty="0"/>
              <a:t> Hybrid </a:t>
            </a:r>
            <a:r>
              <a:rPr lang="en-GB" dirty="0" err="1"/>
              <a:t>Fahrzeuge</a:t>
            </a:r>
            <a:r>
              <a:rPr lang="en-GB" dirty="0"/>
              <a:t> </a:t>
            </a:r>
            <a:r>
              <a:rPr lang="en-GB" dirty="0" err="1"/>
              <a:t>können</a:t>
            </a:r>
            <a:r>
              <a:rPr lang="en-GB" dirty="0"/>
              <a:t> </a:t>
            </a:r>
            <a:r>
              <a:rPr lang="en-GB" dirty="0" err="1"/>
              <a:t>nicht</a:t>
            </a:r>
            <a:r>
              <a:rPr lang="en-GB" dirty="0"/>
              <a:t> an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externen</a:t>
            </a:r>
            <a:r>
              <a:rPr lang="en-GB" dirty="0"/>
              <a:t> </a:t>
            </a:r>
            <a:r>
              <a:rPr lang="en-GB" dirty="0" err="1"/>
              <a:t>Stromquelle</a:t>
            </a:r>
            <a:r>
              <a:rPr lang="en-GB" dirty="0"/>
              <a:t> </a:t>
            </a:r>
            <a:r>
              <a:rPr lang="en-GB" dirty="0" err="1"/>
              <a:t>geladen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,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über</a:t>
            </a:r>
            <a:r>
              <a:rPr lang="en-GB" dirty="0"/>
              <a:t> </a:t>
            </a:r>
            <a:r>
              <a:rPr lang="en-GB" dirty="0" err="1"/>
              <a:t>längere</a:t>
            </a:r>
            <a:r>
              <a:rPr lang="en-GB" dirty="0"/>
              <a:t> </a:t>
            </a:r>
            <a:r>
              <a:rPr lang="en-GB" dirty="0" err="1"/>
              <a:t>Strecken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Strom </a:t>
            </a:r>
            <a:r>
              <a:rPr lang="en-GB" dirty="0" err="1"/>
              <a:t>fahren</a:t>
            </a:r>
            <a:r>
              <a:rPr lang="en-GB" dirty="0"/>
              <a:t>.</a:t>
            </a:r>
          </a:p>
          <a:p>
            <a:r>
              <a:rPr lang="en-GB" dirty="0"/>
              <a:t>Benzin und </a:t>
            </a:r>
            <a:r>
              <a:rPr lang="en-GB" dirty="0" err="1"/>
              <a:t>regeneratives</a:t>
            </a:r>
            <a:r>
              <a:rPr lang="en-GB" dirty="0"/>
              <a:t> </a:t>
            </a:r>
            <a:r>
              <a:rPr lang="en-GB" dirty="0" err="1"/>
              <a:t>Bremsen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https://public.opendatasoft.com/explore/dataset/all-vehicles-model/information/</a:t>
            </a:r>
          </a:p>
          <a:p>
            <a:r>
              <a:rPr lang="en-GB" dirty="0"/>
              <a:t>https://www.epa.gov/fueleconomy</a:t>
            </a:r>
          </a:p>
          <a:p>
            <a:r>
              <a:rPr lang="de-DE" dirty="0"/>
              <a:t>https://www.fueleconomy.gov/feg/pdfs/guides/FEG2025.pdf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8B9EB-00BF-41A8-B4E3-2D053DE9073A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557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DF1A7-AC3C-3923-B97E-EB29271E7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A694E2-48AF-571D-F892-D9813213C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BACD5-73C6-0D41-7957-6631B0F8B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A384-7F5B-4702-95DE-64376BB98E8E}" type="datetimeFigureOut">
              <a:rPr lang="de-DE" smtClean="0"/>
              <a:t>20.07.2025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640F2-FB52-16BE-1D89-5FDD33BAF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5DC6E-6EE6-18E9-9841-56148F1D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D8F9-5339-430A-A856-CA116AC0C99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54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6819-1B59-66CB-0BD4-68437CC07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4B283-A74C-006E-0D5E-F194560B8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0C3D-6589-022B-70AF-5F456DAC5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A384-7F5B-4702-95DE-64376BB98E8E}" type="datetimeFigureOut">
              <a:rPr lang="de-DE" smtClean="0"/>
              <a:t>20.07.2025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F2357-259B-18FD-65AB-B01DB94D6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45EB7-E4EF-0A29-A65F-ED1EDE0A8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D8F9-5339-430A-A856-CA116AC0C99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0586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E845-34DA-05B8-E88A-79873BC84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7AFE0-7DF5-48DF-E307-C30638AF0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D41F1-2D18-9F7B-4E6D-241F9857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A384-7F5B-4702-95DE-64376BB98E8E}" type="datetimeFigureOut">
              <a:rPr lang="de-DE" smtClean="0"/>
              <a:t>20.07.2025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6F2D5-C145-5E2C-7ED9-FD1C6222D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D733D-D11B-E969-61EC-4B6710280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D8F9-5339-430A-A856-CA116AC0C99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1212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AF25-E9C5-6863-0C1E-14134CA53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860F7-D274-636D-A503-5641211A80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5E2EC-9001-CBD5-DA00-429DD188B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0FF1D-44A7-1425-F4C4-DC40FC59D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A384-7F5B-4702-95DE-64376BB98E8E}" type="datetimeFigureOut">
              <a:rPr lang="de-DE" smtClean="0"/>
              <a:t>20.07.2025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D24B9-DC4B-4FE7-6E13-90B3D3F7A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76012-7D30-E850-D7B1-21032772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D8F9-5339-430A-A856-CA116AC0C99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2500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81DEF-B616-C836-F32D-ABD1E639B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0219C-CE9F-4B85-62BD-1C0A81933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91426-99F1-F485-004A-7E8E13752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18508-57EE-4F08-CF52-FA466587C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01849B-5B65-2600-E5A2-D03907300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9B1415-FA28-E7BE-576B-2D02F0F46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A384-7F5B-4702-95DE-64376BB98E8E}" type="datetimeFigureOut">
              <a:rPr lang="de-DE" smtClean="0"/>
              <a:t>20.07.2025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E3B96E-4D99-5E7D-7AC7-D923F431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6290C0-EBBE-9ED4-CC53-E3886875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D8F9-5339-430A-A856-CA116AC0C99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90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7DB0B-7ACE-16EC-ED3D-14FD38F96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6AEE54-64C6-E0CB-EB6F-35213BCD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A384-7F5B-4702-95DE-64376BB98E8E}" type="datetimeFigureOut">
              <a:rPr lang="de-DE" smtClean="0"/>
              <a:t>20.07.2025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010005-D24A-C450-548A-2FBD0722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93335-9C76-11B5-0AA6-9E785B4F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D8F9-5339-430A-A856-CA116AC0C99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599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4548C-75CC-7F4F-DF8A-D3A33C787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A384-7F5B-4702-95DE-64376BB98E8E}" type="datetimeFigureOut">
              <a:rPr lang="de-DE" smtClean="0"/>
              <a:t>20.07.2025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BCD461-8973-9636-F121-C9DC685D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BDBD3-7735-C3AF-107B-688B37BAC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D8F9-5339-430A-A856-CA116AC0C99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1361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5BD79-FAD5-8510-F4B3-B7AEA0CD1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97133-F0A9-04ED-DD6D-128E4523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51235C-B639-559A-C08D-593E92F6B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58C91-DD12-E44C-94CA-C199C52D3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A384-7F5B-4702-95DE-64376BB98E8E}" type="datetimeFigureOut">
              <a:rPr lang="de-DE" smtClean="0"/>
              <a:t>20.07.2025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A3CAE-7478-E61C-F944-B9CE48A77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22190-85A5-A46C-7E30-727449048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D8F9-5339-430A-A856-CA116AC0C99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74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5922A-9EB5-C37E-248A-637FD837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0D3BA8-1884-89A4-3A75-50639B0795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3F08AB-3D41-6DE5-72BA-7574817EF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D549E-3707-4B65-21E1-DE5A08380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A384-7F5B-4702-95DE-64376BB98E8E}" type="datetimeFigureOut">
              <a:rPr lang="de-DE" smtClean="0"/>
              <a:t>20.07.2025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5974E-2AD4-3D41-98B8-9BE3FC3F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53627-E8A0-4E86-A3E4-B0D86E352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D8F9-5339-430A-A856-CA116AC0C99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845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E6F31-4593-95F5-D68E-B2F5F269F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8A6A0F-9230-1A7E-474C-D18A2B20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57D17-B67A-8427-2743-B9FFD5CC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A384-7F5B-4702-95DE-64376BB98E8E}" type="datetimeFigureOut">
              <a:rPr lang="de-DE" smtClean="0"/>
              <a:t>20.07.2025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58D23-90CB-EACC-40BC-9DB20E3D8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0CAC6-2D4F-72A7-80CE-F161B3165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D8F9-5339-430A-A856-CA116AC0C99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5512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4F5F0A-8F59-35FD-59C7-FA89A940FB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8CFD-CBB1-5895-1CF3-86C1C6311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EAC47-CF4C-A8DF-8CFA-9DE1DA039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A384-7F5B-4702-95DE-64376BB98E8E}" type="datetimeFigureOut">
              <a:rPr lang="de-DE" smtClean="0"/>
              <a:t>20.07.2025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217B3-937D-630E-E3A2-CCEEB5E2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939F7-ADAF-9CBF-6769-A4B73DC1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D8F9-5339-430A-A856-CA116AC0C99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370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A8EC54-FA90-41DA-3490-AE731E77B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CB3AE-0119-15F2-491A-C44B3BC6C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A2F34-4A3E-46AB-D530-76F7E4F98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5AA384-7F5B-4702-95DE-64376BB98E8E}" type="datetimeFigureOut">
              <a:rPr lang="de-DE" smtClean="0"/>
              <a:t>20.07.2025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1E46D-CA2F-D41D-1A4F-E65368D10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4F071-401B-2F2B-F43B-D1692C751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7D8F9-5339-430A-A856-CA116AC0C99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8305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Picture 11" descr="A black square with colorful text&#10;&#10;AI-generated content may be incorrect.">
            <a:extLst>
              <a:ext uri="{FF2B5EF4-FFF2-40B4-BE49-F238E27FC236}">
                <a16:creationId xmlns:a16="http://schemas.microsoft.com/office/drawing/2014/main" id="{73CBC08F-5219-90F8-647F-486B7A354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775" y="1234281"/>
            <a:ext cx="5851525" cy="438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4" descr="A graph of different colored rectangles&#10;&#10;AI-generated content may be incorrect.">
            <a:extLst>
              <a:ext uri="{FF2B5EF4-FFF2-40B4-BE49-F238E27FC236}">
                <a16:creationId xmlns:a16="http://schemas.microsoft.com/office/drawing/2014/main" id="{0059C78D-CED2-6178-72DA-94E4C53C7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79375"/>
            <a:ext cx="6332538" cy="310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5" descr="A green line graph with white text&#10;&#10;AI-generated content may be incorrect.">
            <a:extLst>
              <a:ext uri="{FF2B5EF4-FFF2-40B4-BE49-F238E27FC236}">
                <a16:creationId xmlns:a16="http://schemas.microsoft.com/office/drawing/2014/main" id="{23484F80-A76A-4F83-BA61-05599C933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1350"/>
            <a:ext cx="6332538" cy="310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2FE0677D-DC6C-77FB-A0D8-3C6164EC0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83325"/>
            <a:ext cx="6332538" cy="310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7" descr="A graph showing the growth of a company&#10;&#10;AI-generated content may be incorrect.">
            <a:extLst>
              <a:ext uri="{FF2B5EF4-FFF2-40B4-BE49-F238E27FC236}">
                <a16:creationId xmlns:a16="http://schemas.microsoft.com/office/drawing/2014/main" id="{725121C7-6FB1-003A-FA41-50B2DF4ED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85300"/>
            <a:ext cx="6332538" cy="310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8" descr="A blue circle with a yellow line&#10;&#10;AI-generated content may be incorrect.">
            <a:extLst>
              <a:ext uri="{FF2B5EF4-FFF2-40B4-BE49-F238E27FC236}">
                <a16:creationId xmlns:a16="http://schemas.microsoft.com/office/drawing/2014/main" id="{E176F631-D11D-C593-5E79-10B6B8DE4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187275"/>
            <a:ext cx="6332538" cy="310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86C5414F-45BE-AA15-048F-F81173E2F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289250"/>
            <a:ext cx="6332538" cy="310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0" descr="A graph with green and blue lines&#10;&#10;AI-generated content may be incorrect.">
            <a:extLst>
              <a:ext uri="{FF2B5EF4-FFF2-40B4-BE49-F238E27FC236}">
                <a16:creationId xmlns:a16="http://schemas.microsoft.com/office/drawing/2014/main" id="{C293FCC3-B46D-EBBC-C73D-981E86D62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391225"/>
            <a:ext cx="6332538" cy="310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 descr="A dog standing in grass&#10;&#10;AI-generated content may be incorrect.">
            <a:extLst>
              <a:ext uri="{FF2B5EF4-FFF2-40B4-BE49-F238E27FC236}">
                <a16:creationId xmlns:a16="http://schemas.microsoft.com/office/drawing/2014/main" id="{4486B205-B757-6581-DD6A-B3A818F97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93200"/>
            <a:ext cx="4746625" cy="474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2">
            <a:extLst>
              <a:ext uri="{FF2B5EF4-FFF2-40B4-BE49-F238E27FC236}">
                <a16:creationId xmlns:a16="http://schemas.microsoft.com/office/drawing/2014/main" id="{D57A243B-D17F-AF8C-C3C2-82D24BC0D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147A0C8-7A2B-7E45-19F8-448E932EC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779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</a:b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3. Wie unterscheidet sich der durchschnittliche Erd</a:t>
            </a: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ö</a:t>
            </a: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lverbrauch je nach Kraftstofftyp (Fuel Type1)?</a:t>
            </a: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EC83A3B-15EA-46EE-F1DD-AB6F3D69D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81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GB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</a:b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4. Wie hat sich der durchschnittliche Erd</a:t>
            </a: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ö</a:t>
            </a: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lverbrauch von Fahrzeugen im Zeitverlauf ver</a:t>
            </a: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ä</a:t>
            </a: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ndert?</a:t>
            </a: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zu Frage 4:</a:t>
            </a: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klarer R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ü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ckgang des durchschnittlichen j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ä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hrlichen Erd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ö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lverbrauchs von Fahrzeugen, besonders ab 2008.</a:t>
            </a: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Zwischen 1984 und ca 2008 Erd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ö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lverbrauch stabil, mit nur leichten Schwankungen.</a:t>
            </a: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Ab 2010 kontinuierlicher Abw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ä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rtstrend, was auf technische Fortschritte, strengere Umweltauflagen und die zunehmende Verbreitung effizienterer Antriebe (z.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 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B. Hybrid, Elektro) hindeutet.</a:t>
            </a: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Im Jahr 2024 Tiefpunkt, m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ö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glicherweise durch einen h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ö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heren Anteil an Elektro- und Plug-in-Hybrid-Fahrzeugen.</a:t>
            </a: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2025 leichter Anstieg, vielleicht wegen neuen Modelltypen oder unvollst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ä</a:t>
            </a: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ndigen Daten.</a:t>
            </a: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12106378-C416-A844-0782-449B3DCB8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983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</a:b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5. Welche Fahrzeugklassen verbrauchen am meisten Erd</a:t>
            </a: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ö</a:t>
            </a: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l pro Jahr?</a:t>
            </a: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9495DC71-1F20-EBB0-C371-40B020CD9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085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</a:b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6. Wie hat sich die Anzahl neu eingef</a:t>
            </a: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ü</a:t>
            </a: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hrter Fahrzeugmodelle pro Jahr entwickelt?</a:t>
            </a: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299399D9-6E13-81E3-D53C-DC4D666D9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87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</a:b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7. Wie viele Fahrzeuge haben Plug-in-Hybrid-Eigenschaften (PHEV)?</a:t>
            </a: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id="{2005E7E2-0C66-F761-0B26-E4EDFC8F2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2892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</a:b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8. Verbrauchen Plug-in-Hybride (PHEVs) im Schnitt weniger Erd</a:t>
            </a: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ö</a:t>
            </a: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l pro Jahr als konventionelle Fahrzeuge?</a:t>
            </a: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1">
            <a:extLst>
              <a:ext uri="{FF2B5EF4-FFF2-40B4-BE49-F238E27FC236}">
                <a16:creationId xmlns:a16="http://schemas.microsoft.com/office/drawing/2014/main" id="{9F5728C3-B5CA-C419-7247-397314AAD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91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</a:b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9. Wie entwickelt sich der Erd</a:t>
            </a: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ö</a:t>
            </a: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lverbrauch bei PHEVs und konventionellen Fahrzeugen </a:t>
            </a: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ü</a:t>
            </a:r>
            <a:r>
              <a:rPr kumimoji="0" lang="de-DE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ber die Jahre?</a:t>
            </a: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2">
            <a:extLst>
              <a:ext uri="{FF2B5EF4-FFF2-40B4-BE49-F238E27FC236}">
                <a16:creationId xmlns:a16="http://schemas.microsoft.com/office/drawing/2014/main" id="{85978D5D-D0D2-068D-BC60-E37682EB9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493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</a:b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10.</a:t>
            </a:r>
            <a:endParaRPr kumimoji="0" lang="en-GB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FF322192-BB43-E34D-CB48-1872EF1E9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239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230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3">
            <a:extLst>
              <a:ext uri="{FF2B5EF4-FFF2-40B4-BE49-F238E27FC236}">
                <a16:creationId xmlns:a16="http://schemas.microsoft.com/office/drawing/2014/main" id="{96A17272-E788-D1E0-8861-0F65943F3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9320" y="1710404"/>
            <a:ext cx="501336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</a:br>
            <a:endParaRPr kumimoji="0" lang="en-GB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Datengetriebene Automobilforschung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9580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2" descr="A barcode diagram with text&#10;&#10;AI-generated content may be incorrect.">
            <a:extLst>
              <a:ext uri="{FF2B5EF4-FFF2-40B4-BE49-F238E27FC236}">
                <a16:creationId xmlns:a16="http://schemas.microsoft.com/office/drawing/2014/main" id="{8B8DF034-FDA4-9379-DE76-B3FE8EB44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269" y="1744663"/>
            <a:ext cx="6332538" cy="310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174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3EEAC-223D-3672-295B-29AB446F6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D00B11-0686-4D7B-E38A-F9DF126C9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853" y="1014775"/>
            <a:ext cx="6334293" cy="482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631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9E04E-EF9A-F9CA-25BA-0C640BD5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different colored rectangles&#10;&#10;AI-generated content may be incorrect.">
            <a:extLst>
              <a:ext uri="{FF2B5EF4-FFF2-40B4-BE49-F238E27FC236}">
                <a16:creationId xmlns:a16="http://schemas.microsoft.com/office/drawing/2014/main" id="{17A2B57E-779F-6B76-547A-95E80C9C4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207" y="1877060"/>
            <a:ext cx="6331585" cy="310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622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4A7F-B1AD-B5A2-C5FD-CBC506D86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line graph with white text&#10;&#10;AI-generated content may be incorrect.">
            <a:extLst>
              <a:ext uri="{FF2B5EF4-FFF2-40B4-BE49-F238E27FC236}">
                <a16:creationId xmlns:a16="http://schemas.microsoft.com/office/drawing/2014/main" id="{34154FE8-E491-8617-ED25-1A7920F028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207" y="1877060"/>
            <a:ext cx="6331585" cy="310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66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42FEB-8064-0235-9BCA-81976731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9D44B754-6251-675E-4D78-46BC39E65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207" y="1877060"/>
            <a:ext cx="6331585" cy="310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74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085FB-7733-33AB-6DEC-956585782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showing the growth of a company&#10;&#10;AI-generated content may be incorrect.">
            <a:extLst>
              <a:ext uri="{FF2B5EF4-FFF2-40B4-BE49-F238E27FC236}">
                <a16:creationId xmlns:a16="http://schemas.microsoft.com/office/drawing/2014/main" id="{931640E4-17D8-0101-B7D3-2B3565D48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207" y="1877060"/>
            <a:ext cx="6331585" cy="310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21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C4B20-0275-A94E-9D3E-2BDC8155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circle with a yellow line&#10;&#10;AI-generated content may be incorrect.">
            <a:extLst>
              <a:ext uri="{FF2B5EF4-FFF2-40B4-BE49-F238E27FC236}">
                <a16:creationId xmlns:a16="http://schemas.microsoft.com/office/drawing/2014/main" id="{75BEB8B5-6DA4-0C96-BF6A-12E7649DF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207" y="1877060"/>
            <a:ext cx="6331585" cy="310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266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728BC-A06A-3686-CADB-5A2B43C6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graph&#10;&#10;AI-generated content may be incorrect.">
            <a:extLst>
              <a:ext uri="{FF2B5EF4-FFF2-40B4-BE49-F238E27FC236}">
                <a16:creationId xmlns:a16="http://schemas.microsoft.com/office/drawing/2014/main" id="{8969628B-E8D6-44E1-6874-A83DA91444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207" y="1877060"/>
            <a:ext cx="6331585" cy="310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93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F3FE3-1AD9-A4B8-3506-D6934A295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with green and blue lines&#10;&#10;AI-generated content may be incorrect.">
            <a:extLst>
              <a:ext uri="{FF2B5EF4-FFF2-40B4-BE49-F238E27FC236}">
                <a16:creationId xmlns:a16="http://schemas.microsoft.com/office/drawing/2014/main" id="{E350A643-0738-79F7-36D7-63346BE77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207" y="1877060"/>
            <a:ext cx="6331585" cy="310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36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045FF-1CAE-0148-A4FA-E300FA386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og standing in grass&#10;&#10;AI-generated content may be incorrect.">
            <a:extLst>
              <a:ext uri="{FF2B5EF4-FFF2-40B4-BE49-F238E27FC236}">
                <a16:creationId xmlns:a16="http://schemas.microsoft.com/office/drawing/2014/main" id="{78FCCAB7-D574-0623-5964-F88740533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322" y="1056322"/>
            <a:ext cx="4745355" cy="474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54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1209</Words>
  <Application>Microsoft Office PowerPoint</Application>
  <PresentationFormat>Widescreen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Sandra Koch</dc:creator>
  <cp:lastModifiedBy>Sandra Koch</cp:lastModifiedBy>
  <cp:revision>54</cp:revision>
  <dcterms:created xsi:type="dcterms:W3CDTF">2025-07-20T18:27:26Z</dcterms:created>
  <dcterms:modified xsi:type="dcterms:W3CDTF">2025-07-20T22:07:34Z</dcterms:modified>
</cp:coreProperties>
</file>